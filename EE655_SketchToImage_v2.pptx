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1" r:id="rId9"/>
    <p:sldId id="267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58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B2B42-C98D-18F6-3C6D-48E15964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E099C-48D5-E92D-7314-713DE2EE0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484B2-6BE6-4453-5061-AC078D6D1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D2371-9BED-AF8B-13E3-9009726D5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32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1434-6E9A-2AC1-5653-0D0141D59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7B4B2-B005-AC76-E570-D20500EC6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FA6B1-EAEF-840B-3421-0BA0ABE88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918EC-BBED-3968-541D-7A299F88E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24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8E00-7A24-EE7F-5A21-9DEF9E15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976FE-3B0F-2F01-D2F0-966C0D0FB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9341D-2549-41A7-9648-609EB85E7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8F21B-A63C-F8E7-F9A0-ED9828C8D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86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164592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EE655 — COURSE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Approaches in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Sketch-to-Image Generation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CLIP-Guided Diffusion and GAN-based methods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bridging sparse sketches and photorealistic synthesis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457200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Daksh Pratap Singh  ·  Harshvardhan Agarwal  ·  Sarvesh Bharambe  ·  Vrushabh D Undri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Prof. Koteswar Jerripothula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502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BC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SKETCH → IMAGE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Sketch-to-Image Hard?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 are sparse, lack color and texture, models must infer rich visual content from minimal structural cues.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8346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83464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Mapping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sketch could map to many plausible images. The model must make semantic choices without ambiguity in input.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83464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283464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Scarcity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(sketch, image) datasets are rare across most domains, forcing novel data synthesis strategies.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Game &amp; Entertainment Design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" y="4315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Fashion &amp; Product Prototyping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6542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 &amp; E-commerce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3977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Forensics (Face Reconstruction)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63440" y="4315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Historical Sketch Reconstruction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46542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Human-AI Creative Collaboration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&amp; Our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023360" cy="54864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Pix2Pix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image-to-image GAN — requires matched sketch/image pairs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21992"/>
            <a:ext cx="4023360" cy="54864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494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translation via cycle-consistency loss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843784"/>
            <a:ext cx="4023360" cy="54864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71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SketchyGAN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18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diversity — limited generalization beyond training domain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465576"/>
            <a:ext cx="4023360" cy="54864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93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S2FGAN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739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interactive sketch-to-face; narrow domain focus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087368"/>
            <a:ext cx="4023360" cy="54864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14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CLIPasso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361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Semantically-aware sketch generation (not synthesis)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600200"/>
            <a:ext cx="4114800" cy="548640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00200"/>
            <a:ext cx="54864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62763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Sketch → Prompt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187452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extracts semantic descriptions from sketches — no manual prompting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221992"/>
            <a:ext cx="4114800" cy="548640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221992"/>
            <a:ext cx="54864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24942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Conditioning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4963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(CLIP) + structural (ControlNet) cues combined in one pipeline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843784"/>
            <a:ext cx="4114800" cy="548640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843784"/>
            <a:ext cx="54864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8712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Bootstrapping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118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 + inverse GAN mapping to generate training pairs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465576"/>
            <a:ext cx="4114800" cy="548640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465576"/>
            <a:ext cx="54864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49300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Comparison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373989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evaluation of diffusion vs. GAN on the same problem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4087368"/>
            <a:ext cx="4114800" cy="548640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4087368"/>
            <a:ext cx="54864" cy="548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41148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436168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+ ControlNet works across object classes without retraining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CLIP-Guided Conditioned Stable Diffusion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8892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Interrogator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sketch is encoded by CLIP's visual encoder into a high-dimensional embedding. Cosine similarity with candidate text descriptions identifies the most semantically relevant prompt.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114800"/>
            <a:ext cx="2606040" cy="54864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base text description of the sketch content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468880"/>
            <a:ext cx="164592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51560"/>
            <a:ext cx="27889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51560"/>
            <a:ext cx="278892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Refinement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CLIP prompt is enhanced with style tokens, composition cues (depth of field, lighting, shadows), and quality boosters. Literal sketch references ("drawing", "lines") are removed.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4114800"/>
            <a:ext cx="2606040" cy="54864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vivid, scene-coherent prompt for diffusion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2468880"/>
            <a:ext cx="164592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051560"/>
            <a:ext cx="27889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051560"/>
            <a:ext cx="278892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 + Stable Diffusion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819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 (pretrained on Canny Edge, Scribble, Soft-Noise) enforces structural fidelity from the sketch. Stable Diffusion fills in photorealistic texture and lighting from the refined prompt.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114800"/>
            <a:ext cx="2606040" cy="54864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high-fidelity image respecting sketch layout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2B027-8463-0914-E8B1-E0C91ADD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DCDD3B-A8E4-FDD3-2D58-79C59D931E8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FA38FB-00C2-56D1-9409-22CA9A0020BB}"/>
              </a:ext>
            </a:extLst>
          </p:cNvPr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1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507CAE-6BDD-A426-71B4-E4E32A72C5CC}"/>
              </a:ext>
            </a:extLst>
          </p:cNvPr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CLIP-Guided Conditioned Stable Diffusion :- Architecture</a:t>
            </a:r>
            <a:endParaRPr lang="en-US" sz="2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A582FE-E0CE-53B7-0CF0-264649676AD4}"/>
              </a:ext>
            </a:extLst>
          </p:cNvPr>
          <p:cNvSpPr/>
          <p:nvPr/>
        </p:nvSpPr>
        <p:spPr>
          <a:xfrm>
            <a:off x="338328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48C387-90D8-43C6-2384-BB439862795F}"/>
              </a:ext>
            </a:extLst>
          </p:cNvPr>
          <p:cNvSpPr/>
          <p:nvPr/>
        </p:nvSpPr>
        <p:spPr>
          <a:xfrm>
            <a:off x="338328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09BE12-80F7-2FA6-B6B1-A42F1C39AF44}"/>
              </a:ext>
            </a:extLst>
          </p:cNvPr>
          <p:cNvSpPr/>
          <p:nvPr/>
        </p:nvSpPr>
        <p:spPr>
          <a:xfrm>
            <a:off x="3383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7ACFBE-113E-16A0-07FA-74EDF29B620E}"/>
              </a:ext>
            </a:extLst>
          </p:cNvPr>
          <p:cNvSpPr/>
          <p:nvPr/>
        </p:nvSpPr>
        <p:spPr>
          <a:xfrm>
            <a:off x="3657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31F607-8988-9E92-5305-08321DC9ADB8}"/>
              </a:ext>
            </a:extLst>
          </p:cNvPr>
          <p:cNvSpPr/>
          <p:nvPr/>
        </p:nvSpPr>
        <p:spPr>
          <a:xfrm>
            <a:off x="33101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BC72596-F2B9-807D-3F1E-F8F05537D5D8}"/>
              </a:ext>
            </a:extLst>
          </p:cNvPr>
          <p:cNvSpPr/>
          <p:nvPr/>
        </p:nvSpPr>
        <p:spPr>
          <a:xfrm>
            <a:off x="33375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056A062-73DE-51DD-03BA-8E86503D3DC6}"/>
              </a:ext>
            </a:extLst>
          </p:cNvPr>
          <p:cNvSpPr/>
          <p:nvPr/>
        </p:nvSpPr>
        <p:spPr>
          <a:xfrm>
            <a:off x="6281928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363B285-95CD-0143-095D-66AD4D2E69B1}"/>
              </a:ext>
            </a:extLst>
          </p:cNvPr>
          <p:cNvSpPr/>
          <p:nvPr/>
        </p:nvSpPr>
        <p:spPr>
          <a:xfrm>
            <a:off x="6281928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300DA15-C2CA-ED0F-F26E-892332D2B05B}"/>
              </a:ext>
            </a:extLst>
          </p:cNvPr>
          <p:cNvSpPr/>
          <p:nvPr/>
        </p:nvSpPr>
        <p:spPr>
          <a:xfrm>
            <a:off x="62819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BDBF281-C4D0-56EE-ECC7-838CB764C9C2}"/>
              </a:ext>
            </a:extLst>
          </p:cNvPr>
          <p:cNvSpPr/>
          <p:nvPr/>
        </p:nvSpPr>
        <p:spPr>
          <a:xfrm>
            <a:off x="63093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675CB82-B0CF-E737-FF78-AF8743CAA1BE}"/>
              </a:ext>
            </a:extLst>
          </p:cNvPr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BBA02A9-43FB-E1D1-1C8C-08D77FDF1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969" y="987552"/>
            <a:ext cx="4833181" cy="395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3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GAN-Based Translation: Dataset Strategy &amp;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Most domains lack paired (sketch, image) datasets, a fundamental bottleneck for GAN training.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85416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 — Applied to real images to generate synthetic sketches retaining edge details and outlines.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825496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98064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 Filters — Used to simulate realistic sketch textures, preserving stylistic variety in training pairs.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438144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10712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Augmentation — Trained for image→sketch (simpler direction). Generated synthetic pairs used to bootstrap sketch→image training.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050792"/>
            <a:ext cx="201168" cy="2011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2336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— ~7,300 human face images (Kaggle) + Sketchy Database from Georgia Tech.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4251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09160" y="1600200"/>
            <a:ext cx="54864" cy="658368"/>
          </a:xfrm>
          <a:prstGeom prst="rect">
            <a:avLst/>
          </a:prstGeom>
          <a:solidFill>
            <a:srgbClr val="1D7D4A"/>
          </a:solidFill>
          <a:ln w="12700">
            <a:solidFill>
              <a:srgbClr val="1D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618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(U-Net)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downsample + Conv2DTranspose upsample blocks. Skip connections preserve spatial detail. Final tanh activation scales output to [−1, 1].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395728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(PatchGAN)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28032" y="2670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sketch + generated/real image pair. Outputs patch-level real/fake probabilities via binary cross-entropy.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191256"/>
            <a:ext cx="54864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209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28032" y="34655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loss (fool discriminator) + L1 pixel-wise loss (penalize pixel difference from ground truth).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986784"/>
            <a:ext cx="54864" cy="658368"/>
          </a:xfrm>
          <a:prstGeom prst="rect">
            <a:avLst/>
          </a:prstGeom>
          <a:solidFill>
            <a:srgbClr val="7D5C1D"/>
          </a:solidFill>
          <a:ln w="12700">
            <a:solidFill>
              <a:srgbClr val="7D5C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D5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28032" y="42611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Batch=4 · 128×128 px · 10 epochs · Adam lr=2×10⁻⁴ · ~1,800 steps/epoch · 15+ hrs per run.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7E61C-CA91-4367-1422-2B71D8BF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B6E476-9D88-BEA3-4CE8-075657D917C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A33EA7-CC95-27DD-E9B0-F07D32FDF797}"/>
              </a:ext>
            </a:extLst>
          </p:cNvPr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 2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EFD7E5-16E3-6135-261C-60092379A9DB}"/>
              </a:ext>
            </a:extLst>
          </p:cNvPr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GAN-Based Translation: Dataset Strategy &amp; Architecture</a:t>
            </a:r>
            <a:endParaRPr lang="en-US" sz="2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03B8B0-C720-9199-77E0-9386D15ACF7D}"/>
              </a:ext>
            </a:extLst>
          </p:cNvPr>
          <p:cNvSpPr/>
          <p:nvPr/>
        </p:nvSpPr>
        <p:spPr>
          <a:xfrm>
            <a:off x="338328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F69DF9-68F9-DE07-32A0-BFFFFE29C774}"/>
              </a:ext>
            </a:extLst>
          </p:cNvPr>
          <p:cNvSpPr/>
          <p:nvPr/>
        </p:nvSpPr>
        <p:spPr>
          <a:xfrm>
            <a:off x="338328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102BA2-C2D9-8988-C14D-4E44FEFCCFD9}"/>
              </a:ext>
            </a:extLst>
          </p:cNvPr>
          <p:cNvSpPr/>
          <p:nvPr/>
        </p:nvSpPr>
        <p:spPr>
          <a:xfrm>
            <a:off x="3383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BBC5F7E-AC5E-D9A2-D259-8A75C141F6CF}"/>
              </a:ext>
            </a:extLst>
          </p:cNvPr>
          <p:cNvSpPr/>
          <p:nvPr/>
        </p:nvSpPr>
        <p:spPr>
          <a:xfrm>
            <a:off x="3657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7AADD93-E39A-DF5F-695C-FF2D984C7E13}"/>
              </a:ext>
            </a:extLst>
          </p:cNvPr>
          <p:cNvSpPr/>
          <p:nvPr/>
        </p:nvSpPr>
        <p:spPr>
          <a:xfrm>
            <a:off x="33101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26108D0-90BD-943B-DEED-908C84B3A01F}"/>
              </a:ext>
            </a:extLst>
          </p:cNvPr>
          <p:cNvSpPr/>
          <p:nvPr/>
        </p:nvSpPr>
        <p:spPr>
          <a:xfrm>
            <a:off x="33375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C259802-F8F0-E6B3-B34B-FA974227FA27}"/>
              </a:ext>
            </a:extLst>
          </p:cNvPr>
          <p:cNvSpPr/>
          <p:nvPr/>
        </p:nvSpPr>
        <p:spPr>
          <a:xfrm>
            <a:off x="6281928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9F44A05-C5EC-16F2-1E25-E27725909B52}"/>
              </a:ext>
            </a:extLst>
          </p:cNvPr>
          <p:cNvSpPr/>
          <p:nvPr/>
        </p:nvSpPr>
        <p:spPr>
          <a:xfrm>
            <a:off x="6281928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90EB098-901E-835A-04B1-72418957AE49}"/>
              </a:ext>
            </a:extLst>
          </p:cNvPr>
          <p:cNvSpPr/>
          <p:nvPr/>
        </p:nvSpPr>
        <p:spPr>
          <a:xfrm>
            <a:off x="6281928" y="1755648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66931FE-8C25-9E48-6E55-36A86637A7DA}"/>
              </a:ext>
            </a:extLst>
          </p:cNvPr>
          <p:cNvSpPr/>
          <p:nvPr/>
        </p:nvSpPr>
        <p:spPr>
          <a:xfrm>
            <a:off x="6309360" y="41513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F2C5BCC-4C0E-AE12-96BB-44657185E624}"/>
              </a:ext>
            </a:extLst>
          </p:cNvPr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8FC4C-D87A-AC09-9789-E75FC2593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1" y="996696"/>
            <a:ext cx="4456867" cy="17983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DAADEE-E76B-FA07-2A36-08DBC12CD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147" y="969264"/>
            <a:ext cx="4089061" cy="352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2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CYCLEGAN — DEEP 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Translation + Data Augmentation Role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CycleGAN?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unpaired image-to-image translation, no requirement for matched sketch-image pairs. Learns to translate between domains using cycle-consistency loss.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23160"/>
            <a:ext cx="4114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96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8163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Image→sketch mapping is simpler than sketch→image (images lose color, depth, detail). A smaller dataset can train the inverse direction effectively.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657600"/>
            <a:ext cx="41148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0507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initial iterations: K = Canny/SketchFilter/EdgeMaps. After training: K = G (the trained generator produces synthetic sketches for bootstrapping).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Fed Into Custom GAN Training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691640"/>
            <a:ext cx="4160520" cy="530352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709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02352" y="17373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CycleGAN on real images (human faces)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313432"/>
            <a:ext cx="4160520" cy="530352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02352" y="235915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trained image→sketch generator to produce synthetic sketch-image pairs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935224"/>
            <a:ext cx="4160520" cy="530352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02352" y="298094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Canny-derived pairs to form augmented training set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557016"/>
            <a:ext cx="4160520" cy="530352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75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360273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custom Pix2Pix-style GAN on augmented dataset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178808"/>
            <a:ext cx="4160520" cy="530352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02352" y="422452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better GAN → better synthetic pairs → retrain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8B86E-07B3-7941-E014-984E6B0B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71AA6B-BC00-693D-AD9A-B36D617BB6A5}"/>
              </a:ext>
            </a:extLst>
          </p:cNvPr>
          <p:cNvSpPr/>
          <p:nvPr/>
        </p:nvSpPr>
        <p:spPr>
          <a:xfrm>
            <a:off x="36576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COMPARISON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D48FE3-32F0-4490-8E6A-D912DDE596E4}"/>
              </a:ext>
            </a:extLst>
          </p:cNvPr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 (Diffusion) vs. Custom GAN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E88F72-01CA-BD55-831C-9754894C2D89}"/>
              </a:ext>
            </a:extLst>
          </p:cNvPr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0B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CLIP-Guided Conditioned Stable Diffusion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63258F-74C2-0615-FEF2-535CAE4875BE}"/>
              </a:ext>
            </a:extLst>
          </p:cNvPr>
          <p:cNvSpPr/>
          <p:nvPr/>
        </p:nvSpPr>
        <p:spPr>
          <a:xfrm>
            <a:off x="411480" y="1627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7177F1-6623-FBF9-46FB-8E028355BE3C}"/>
              </a:ext>
            </a:extLst>
          </p:cNvPr>
          <p:cNvSpPr/>
          <p:nvPr/>
        </p:nvSpPr>
        <p:spPr>
          <a:xfrm>
            <a:off x="4114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56C426-191B-DD6D-6EAD-0D0143392221}"/>
              </a:ext>
            </a:extLst>
          </p:cNvPr>
          <p:cNvSpPr/>
          <p:nvPr/>
        </p:nvSpPr>
        <p:spPr>
          <a:xfrm>
            <a:off x="411480" y="22494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FB652A-F6B9-D8EF-61F6-F20B116DE00B}"/>
              </a:ext>
            </a:extLst>
          </p:cNvPr>
          <p:cNvSpPr/>
          <p:nvPr/>
        </p:nvSpPr>
        <p:spPr>
          <a:xfrm>
            <a:off x="411480" y="2496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226C15F-2758-2126-2878-FD2B14722CED}"/>
              </a:ext>
            </a:extLst>
          </p:cNvPr>
          <p:cNvSpPr/>
          <p:nvPr/>
        </p:nvSpPr>
        <p:spPr>
          <a:xfrm>
            <a:off x="411480" y="4361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454D5B-EA03-DD89-C444-4A547FA473AE}"/>
              </a:ext>
            </a:extLst>
          </p:cNvPr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0B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GAN-based Input Output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0D95712-04B7-9A96-3CB4-525B97D9BA24}"/>
              </a:ext>
            </a:extLst>
          </p:cNvPr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9365AEF-0CAD-BC84-CF85-CF3436F2B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27298"/>
            <a:ext cx="3026210" cy="107776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A855AFD-F2A6-5C38-CCA6-0208ED791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3" y="2714892"/>
            <a:ext cx="3020097" cy="117617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C401F92-7A67-2BC4-2754-C41EE0004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6" y="4020377"/>
            <a:ext cx="3102397" cy="112312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C077106-241D-499F-4730-38E83220C9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674" y="1527298"/>
            <a:ext cx="3102396" cy="104445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1B9B244-2E73-F8B3-6F89-0E430B6987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674" y="2771799"/>
            <a:ext cx="3102396" cy="104445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9B7D007-D815-2023-268E-C5B9C44DF4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73" y="3891064"/>
            <a:ext cx="3102397" cy="122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5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 (Diffusion) vs. Custom GAN — Head to Head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1051560"/>
            <a:ext cx="2560320" cy="420624"/>
          </a:xfrm>
          <a:prstGeom prst="rect">
            <a:avLst/>
          </a:prstGeom>
          <a:solidFill>
            <a:srgbClr val="1A2B4A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881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51560"/>
            <a:ext cx="3154680" cy="420624"/>
          </a:xfrm>
          <a:prstGeom prst="rect">
            <a:avLst/>
          </a:prstGeom>
          <a:solidFill>
            <a:srgbClr val="1A2B4A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0881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 / Diffusion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051560"/>
            <a:ext cx="3154680" cy="420624"/>
          </a:xfrm>
          <a:prstGeom prst="rect">
            <a:avLst/>
          </a:prstGeom>
          <a:solidFill>
            <a:srgbClr val="1A2B4A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0881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1472184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508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97480" y="1472184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uses pretrained models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1472184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508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from scratch, 15+ hrs/run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" y="1892808"/>
            <a:ext cx="256032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9293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97480" y="1892808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19293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fine-tuning dataset sufficient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1892808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9293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paired dataset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7160" y="2313432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3500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97480" y="2313432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350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fidelity, rich detail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52160" y="2313432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350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but less consistent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37160" y="2734056"/>
            <a:ext cx="256032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770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Control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97480" y="2734056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27706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text prompt — highly flexible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2734056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7706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architecture changes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37160" y="3154680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19125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Flexibility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97480" y="3154680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31912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 without retraining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52160" y="3154680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1912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only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37160" y="3575304"/>
            <a:ext cx="256032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611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697480" y="3575304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8920" y="3611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iterative denoising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52160" y="3575304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36118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single forward pass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37160" y="3995928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0325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697480" y="3995928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88920" y="4032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modular, easy to swap control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52160" y="3995928"/>
            <a:ext cx="3154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4032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modular, needs new training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37160" y="4416552"/>
            <a:ext cx="256032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44531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697480" y="4416552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88920" y="4453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synthesis, concept art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852160" y="4416552"/>
            <a:ext cx="3154680" cy="420624"/>
          </a:xfrm>
          <a:prstGeom prst="rect">
            <a:avLst/>
          </a:prstGeom>
          <a:solidFill>
            <a:srgbClr val="EAEFF6"/>
          </a:solidFill>
          <a:ln w="6350">
            <a:solidFill>
              <a:srgbClr val="D0D7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4453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domain-specific tasks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OBSERVATIONS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Running Both Approaches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64008" cy="1188720"/>
          </a:xfrm>
          <a:prstGeom prst="rect">
            <a:avLst/>
          </a:prstGeom>
          <a:solidFill>
            <a:srgbClr val="1D7D4A"/>
          </a:solidFill>
          <a:ln w="12700">
            <a:solidFill>
              <a:srgbClr val="1D7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521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Diffusion: Superior Generalization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+ ControlNet successfully synthesized images across sketches of diverse object classes, airplanes, animals, faces, without any task-specific retraining. The model generalizes from massive pretrained representations.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078992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078992"/>
            <a:ext cx="64008" cy="1188720"/>
          </a:xfrm>
          <a:prstGeom prst="rect">
            <a:avLst/>
          </a:prstGeom>
          <a:solidFill>
            <a:srgbClr val="1D7D4A"/>
          </a:solidFill>
          <a:ln w="12700">
            <a:solidFill>
              <a:srgbClr val="1D7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1521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Diffusion: Controllable via 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463040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composition, and scene context could be steered purely through prompt engineering. Prompts including lighting, depth-of-field, and material descriptors significantly improved output realism.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37744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377440"/>
            <a:ext cx="64008" cy="1188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505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Diffusion: Occasional Misclassification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76148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can misidentify the sketch subject, leading to incorrect base prompts. This was partially mitigated via prompt refinement, but remains a weakness in highly ambiguous or abstract sketches.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90872" y="237744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2377440"/>
            <a:ext cx="64008" cy="1188720"/>
          </a:xfrm>
          <a:prstGeom prst="rect">
            <a:avLst/>
          </a:prstGeom>
          <a:solidFill>
            <a:srgbClr val="1D7D4A"/>
          </a:solidFill>
          <a:ln w="12700">
            <a:solidFill>
              <a:srgbClr val="1D7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505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GAN: Domain-Specific Sharpness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76148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GAN outputs showed sharper edges and higher domain consistency for human faces, the training domain, compared to diffusion outputs for the same class.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675888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675888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490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GAN: Hardware Bottleneck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05993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required 15+ hours per iteration on constrained hardware for just 7,300 images at 128×128 resolution. This significantly limited our ability to tune hyperparameters and experiment at scale.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90872" y="3675888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675888"/>
            <a:ext cx="64008" cy="1188720"/>
          </a:xfrm>
          <a:prstGeom prst="rect">
            <a:avLst/>
          </a:prstGeom>
          <a:solidFill>
            <a:srgbClr val="1D7D4A"/>
          </a:solidFill>
          <a:ln w="12700">
            <a:solidFill>
              <a:srgbClr val="1D7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7490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Bootstrapping: Effective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405993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Canny-derived synthetic sketch-image pairs were effective training data. The edge maps preserved the structural features (outlines, proportions) typical of real sketches.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Future Directions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6276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wins on quality &amp; flexibility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5798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+ ControlNet delivers superior visual fidelity and domain-agnostic generalization. Ideal for creative synthesis, concept art, and varied domains.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017520"/>
            <a:ext cx="4160520" cy="16276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35844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win on speed &amp; fine-grained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98678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sufficient training data and compute, GANs produce domain-specific, consistent results faster. Better suited for real-time, constrained applications.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60520" cy="16276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7556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bootstrapping is viable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5798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sketch-image pairs from Canny edge detection and CycleGAN augmentation are effective substitutes when real paired datasets don't exist.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60520" cy="1627632"/>
          </a:xfrm>
          <a:prstGeom prst="rect">
            <a:avLst/>
          </a:prstGeom>
          <a:solidFill>
            <a:srgbClr val="243860"/>
          </a:solidFill>
          <a:ln w="12700">
            <a:solidFill>
              <a:srgbClr val="2438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00600" y="35844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trade-off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986784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A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vs. controllability, neither approach dominates universally. The right choice is use-case dependent. Future work: combine both in a hybrid pipeline.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4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1276</Words>
  <Application>Microsoft Office PowerPoint</Application>
  <PresentationFormat>On-screen Show (16:9)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EE655 Sketch-to-Image Generation</dc:title>
  <dc:subject>PptxGenJS Presentation</dc:subject>
  <dc:creator>PptxGenJS</dc:creator>
  <cp:lastModifiedBy>Harshvardhan Agarwal</cp:lastModifiedBy>
  <cp:revision>3</cp:revision>
  <dcterms:created xsi:type="dcterms:W3CDTF">2026-04-19T03:12:30Z</dcterms:created>
  <dcterms:modified xsi:type="dcterms:W3CDTF">2026-04-19T03:53:03Z</dcterms:modified>
</cp:coreProperties>
</file>